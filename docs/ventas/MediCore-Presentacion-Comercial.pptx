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eorgia"/>
              </a:rPr>
              <a:t>MediCore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8E4E6"/>
                </a:solidFill>
                <a:latin typeface="Calibri"/>
              </a:rPr>
              <a:t>El sistema que acompaña la atención médica
de su clínica, todos los días.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49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Presentación comercial  ·  Clínicas ambulatorias y servicios de urgencias
México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Qué veremos juntos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270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A32"/>
                </a:solidFill>
                <a:latin typeface="Calibri"/>
              </a:rPr>
              <a:t>El reto de operar una clínica hoy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904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270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A32"/>
                </a:solidFill>
                <a:latin typeface="Calibri"/>
              </a:rPr>
              <a:t>Qué es MediCore y para quién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591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39572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A32"/>
                </a:solidFill>
                <a:latin typeface="Calibri"/>
              </a:rPr>
              <a:t>Cómo ayuda en el día a día clínico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3591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39572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A32"/>
                </a:solidFill>
                <a:latin typeface="Calibri"/>
              </a:rPr>
              <a:t>Caja, farmacia y operación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54680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278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2644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A32"/>
                </a:solidFill>
                <a:latin typeface="Calibri"/>
              </a:rPr>
              <a:t>Cuando falla el Internet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154680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2278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2644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A32"/>
                </a:solidFill>
                <a:latin typeface="Calibri"/>
              </a:rPr>
              <a:t>Varias sucursales y su propia marca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023359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96511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13308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A32"/>
                </a:solidFill>
                <a:latin typeface="Calibri"/>
              </a:rPr>
              <a:t>Información para la dirección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023359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096511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13308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A32"/>
                </a:solidFill>
                <a:latin typeface="Calibri"/>
              </a:rPr>
              <a:t>Cumplimiento y formas de instalación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92040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651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00176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A32"/>
                </a:solidFill>
                <a:latin typeface="Calibri"/>
              </a:rPr>
              <a:t>Siguiente paso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El reto de muchas clínicas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Lo que suele pasar en la operación diaria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Papel y sistemas sueltos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166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La información del paciente vive en carpetas, hojas de cálculo o programas que no se comunican.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Urgencias sin tiempo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166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Llega alguien sin documentos o inconsciente. El software no debería frenar la atención.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0332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Internet inestable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5166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Si se cae la red, la clínica no puede dejar de atender, cobrar ni surtir lo esencial.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0332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8404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Varias sucursales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5166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La dirección necesita ver el conjunto sin perder el control de cada sede.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Qué es MediCore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En una frase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881360" cy="1874519"/>
          </a:xfrm>
          <a:prstGeom prst="roundRect">
            <a:avLst>
              <a:gd name="adj" fmla="val 6000"/>
            </a:avLst>
          </a:prstGeom>
          <a:solidFill>
            <a:srgbClr val="E6F4F4"/>
          </a:solidFill>
          <a:ln>
            <a:solidFill>
              <a:srgbClr val="0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0B2C3D"/>
                </a:solidFill>
                <a:latin typeface="Calibri"/>
              </a:rPr>
              <a:t>MediCore es un sistema web para clínicas ambulatorias
y servicios de urgencias: unifica la atención, el expediente,
la caja y la farmacia en una sola herramienta.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033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Una sola plataforma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Recepción, triage, consulta, urgencias, recetas, cobro y farmacia en el mismo flujo.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7033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Pensado para México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206240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Reportes de salud, facturación y cuidados de privacidad acordes a su operación.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7033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Con su marca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206240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Logo, colores y nombre de su clínica o de su red de sucursales.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Para quién 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Alcance claro, sin sorpresas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86400" cy="4663440"/>
          </a:xfrm>
          <a:prstGeom prst="roundRect">
            <a:avLst>
              <a:gd name="adj" fmla="val 5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7A"/>
                </a:solidFill>
                <a:latin typeface="Calibri"/>
              </a:rPr>
              <a:t>Ideal para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0">
                <a:solidFill>
                  <a:srgbClr val="1A2A32"/>
                </a:solidFill>
                <a:latin typeface="Calibri"/>
              </a:rPr>
              <a:t>•  Clínicas privadas ambulatorias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2A32"/>
                </a:solidFill>
                <a:latin typeface="Calibri"/>
              </a:rPr>
              <a:t>•  Redes con varias sucursales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2A32"/>
                </a:solidFill>
                <a:latin typeface="Calibri"/>
              </a:rPr>
              <a:t>•  Consultorios con servicio de urgencias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2A32"/>
                </a:solidFill>
                <a:latin typeface="Calibri"/>
              </a:rPr>
              <a:t>•  Operaciones que quieren expediente, caja y farmacia juntos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2A32"/>
                </a:solidFill>
                <a:latin typeface="Calibri"/>
              </a:rPr>
              <a:t>•  Equipos que trabajan en computadora o tablet dentro de la clínica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4663440"/>
          </a:xfrm>
          <a:prstGeom prst="roundRect">
            <a:avLst>
              <a:gd name="adj" fmla="val 5000"/>
            </a:avLst>
          </a:prstGeom>
          <a:solidFill>
            <a:srgbClr val="FDF4EE"/>
          </a:solidFill>
          <a:ln>
            <a:solidFill>
              <a:srgbClr val="E8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5C26"/>
                </a:solidFill>
                <a:latin typeface="Calibri"/>
              </a:rPr>
              <a:t>Fuera de este alcance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0">
                <a:solidFill>
                  <a:srgbClr val="1A2A32"/>
                </a:solidFill>
                <a:latin typeface="Calibri"/>
              </a:rPr>
              <a:t>•  Hospitalización completa, quirófanos o UCI (proyecto aparte)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2A32"/>
                </a:solidFill>
                <a:latin typeface="Calibri"/>
              </a:rPr>
              <a:t>•  Portal del paciente como producto principal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2A32"/>
                </a:solidFill>
                <a:latin typeface="Calibri"/>
              </a:rPr>
              <a:t>•  Medicamentos de alto control (estupefacientes): pendiente de definición normativa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Nuestra promesa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Lo más importante del producto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28800"/>
            <a:ext cx="9966960" cy="2194560"/>
          </a:xfrm>
          <a:prstGeom prst="roundRect">
            <a:avLst>
              <a:gd name="adj" fmla="val 6000"/>
            </a:avLst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240280"/>
            <a:ext cx="9235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La atención no se detiene.
Lo administrativo se completa después,
con rastro claro de lo ocurrido.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6B73"/>
                </a:solidFill>
                <a:latin typeface="Calibri"/>
              </a:rPr>
              <a:t>En urgencias puede registrar y atender aunque falten datos;
luego se completa la identidad y el cobro sin perder lo clínico.
Siempre queda registrado quién hizo qué y cuándo.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El recorrido del paciente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De la llegada al egreso, en un solo sistema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2C3D"/>
                </a:solidFill>
                <a:latin typeface="Calibri"/>
              </a:rPr>
              <a:t>Recepción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63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3"/>
                </a:solidFill>
                <a:latin typeface="Calibri"/>
              </a:rPr>
              <a:t>Alta o búsqueda del paciente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103120"/>
            <a:ext cx="502920" cy="73152"/>
          </a:xfrm>
          <a:prstGeom prst="rect">
            <a:avLst/>
          </a:prstGeom>
          <a:solidFill>
            <a:srgbClr val="D0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80360" y="1828800"/>
            <a:ext cx="640080" cy="640080"/>
          </a:xfrm>
          <a:prstGeom prst="ellipse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938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2C3D"/>
                </a:solidFill>
                <a:latin typeface="Calibri"/>
              </a:rPr>
              <a:t>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63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3"/>
                </a:solidFill>
                <a:latin typeface="Calibri"/>
              </a:rPr>
              <a:t>Prioridad según gravedad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2103120"/>
            <a:ext cx="502920" cy="73152"/>
          </a:xfrm>
          <a:prstGeom prst="rect">
            <a:avLst/>
          </a:prstGeom>
          <a:solidFill>
            <a:srgbClr val="D0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46320" y="1828800"/>
            <a:ext cx="640080" cy="640080"/>
          </a:xfrm>
          <a:prstGeom prst="ellipse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938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2C3D"/>
                </a:solidFill>
                <a:latin typeface="Calibri"/>
              </a:rPr>
              <a:t>Atención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063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3"/>
                </a:solidFill>
                <a:latin typeface="Calibri"/>
              </a:rPr>
              <a:t>Consulta o urgencias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103120"/>
            <a:ext cx="502920" cy="73152"/>
          </a:xfrm>
          <a:prstGeom prst="rect">
            <a:avLst/>
          </a:prstGeom>
          <a:solidFill>
            <a:srgbClr val="D0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12279" y="1828800"/>
            <a:ext cx="640080" cy="640080"/>
          </a:xfrm>
          <a:prstGeom prst="ellipse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79" y="1938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2C3D"/>
                </a:solidFill>
                <a:latin typeface="Calibri"/>
              </a:rPr>
              <a:t>Órdenes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3063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3"/>
                </a:solidFill>
                <a:latin typeface="Calibri"/>
              </a:rPr>
              <a:t>Receta, estudios, insumos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999" y="2103120"/>
            <a:ext cx="502920" cy="73152"/>
          </a:xfrm>
          <a:prstGeom prst="rect">
            <a:avLst/>
          </a:prstGeom>
          <a:solidFill>
            <a:srgbClr val="D0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0" y="1828800"/>
            <a:ext cx="640080" cy="640080"/>
          </a:xfrm>
          <a:prstGeom prst="ellipse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1938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2C3D"/>
                </a:solidFill>
                <a:latin typeface="Calibri"/>
              </a:rPr>
              <a:t>Caja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063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3"/>
                </a:solidFill>
                <a:latin typeface="Calibri"/>
              </a:rPr>
              <a:t>Cobro y comprobante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2103120"/>
            <a:ext cx="502920" cy="73152"/>
          </a:xfrm>
          <a:prstGeom prst="rect">
            <a:avLst/>
          </a:prstGeom>
          <a:solidFill>
            <a:srgbClr val="D0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44200" y="1828800"/>
            <a:ext cx="640080" cy="640080"/>
          </a:xfrm>
          <a:prstGeom prst="ellipse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44200" y="1938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2C3D"/>
                </a:solidFill>
                <a:latin typeface="Calibri"/>
              </a:rPr>
              <a:t>Farmacia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3063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3"/>
                </a:solidFill>
                <a:latin typeface="Calibri"/>
              </a:rPr>
              <a:t>Surtido y control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1148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Todo queda en el expediente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617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Notas, signos, diagnósticos y decisiones clínicas en un solo lugar.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1148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Menos retrabajo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617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Lo capturado en recepción y triage se reutiliza en consulta y caja.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41148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Visibilidad en sala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617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El equipo ve turnos y estados actualizados mientras hay conexión.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Módulos clínicos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Lo que usa el personal de salud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Identificación flexible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Puede iniciar con pocos datos y completar CURP u otros datos después. Ideal para urgencias.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Paciente no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Atiende con una etiqueta temporal clara (por ejemplo, señas del accidente) y luego une el expediente cuando se sepa quién 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87452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Clasifica prioridad de atención. El color clínico no se confunde con los colores de su marca.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03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40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Consulta ambulatoria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0624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Nota clínica, antecedentes, signos vitales, plan e interconsulta.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03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840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Urgencias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0624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Ingreso rápido, seguimiento en sala y registro sin bloquear por papelería.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703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840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Receta e expediente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20624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Prescripción con datos del médico; nota firmada que no se altera una vez cerrada.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Caja, farmacia y estudios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La operación que acompaña la clínica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Caja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Cobros ligados a la atención. Si no hay Internet, puede emitir un recibo provisional y facturar después cuando vuelva la conexión.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Factura electrónica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Cuando su clínica lo active: generación de CFDI acorde a su operación fiscal.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Farmacia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87452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Surtido de recetas e inventario. Si falta conexión, puede seguir surtiendo y reconciliar existencias después.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03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40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Estudios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0624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Órdenes de laboratorio o gabinete dentro del mismo flujo del paciente.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03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840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Rechazos y correcciones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0624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Si algo no pudo validarse al sincronizar, no se pierde: queda en una bandeja para revisar y corregir.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703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840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Usuarios y permisos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20624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Cada persona ve solo lo que le corresponde: recepción, médico, caja, farmacia o dirección.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Cuando falla el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La clínica sigue atendiendo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2A32"/>
                </a:solidFill>
                <a:latin typeface="Calibri"/>
              </a:rPr>
              <a:t>MediCore está pensado para que un corte de red no detenga la atención en esa estación de trabajo.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Con 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Funciona completo: consulta en vivo, actualizaciones en sala y envío de reportes o facturas.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031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Sin 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0604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Esa computadora o tablet puede seguir capturando atención, cobro y surtido según reglas acordadas. Al volver la red, se envía lo pendiente.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1031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5C26"/>
                </a:solidFill>
                <a:latin typeface="Calibri"/>
              </a:rPr>
              <a:t>Importante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0604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Cada estación trabaja con su propia cola. No es un “servidor de piso” compartido entre todas las PCs sin conexión.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Varias sucursales, una misma 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Multi-clínica y su identidad visual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Varias sedes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5166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Una misma organización puede operar varias sucursales con usuarios, horarios y operación propios.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Su marca (white-label)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20"/>
            <a:ext cx="5166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Logo, colores y nombre de su clínica. La identidad clínica (por ejemplo, colores de triage) se protege para no confundir al personal.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0332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Instalación en la nube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5166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Sus equipos se conectan por navegador. Ideal si no quiere administrar servidores.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0332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8404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En su propio servidor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5166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Si prefiere infraestructura local: mismo sistema instalado en su servidor, con varios clientes en la red de la clínica.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Información para la dirección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Ver el negocio sin exponer el expediente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881360" cy="1371600"/>
          </a:xfrm>
          <a:prstGeom prst="roundRect">
            <a:avLst/>
          </a:prstGeom>
          <a:solidFill>
            <a:srgbClr val="E6F4F4"/>
          </a:solidFill>
          <a:ln>
            <a:solidFill>
              <a:srgbClr val="0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2C3D"/>
                </a:solidFill>
                <a:latin typeface="Calibri"/>
              </a:rPr>
              <a:t>Un módulo de indicadores dentro de la misma aplicación — no es un sistema aparte.
Solo números agregados, con permisos de lectura.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0040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337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Qué sí 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Volúmenes de atención, tiempos, ocupación, ingresos agregados y tendencias por sucursal.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20040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337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Qué no hace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703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No abre el expediente clínico desde un indicador. Protege la privacidad del paciente.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20040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337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Para quién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703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Dirección, administración y perfiles autorizados. Cada acceso queda registrado.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Cumplimiento y reportes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En lenguaje sencillo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Reportes de salud (DGIS / SINBA)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5166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Incluidos en el producto. Si no hay Internet, se guardan y se envían después. No hay que “activar un módulo extra” para tenerlos.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Privacidad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20"/>
            <a:ext cx="5166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Diseñado para cuidar información sensible de pacientes, con control de accesos y registro de quién consultó qué.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0332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Integraciones opcionales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5166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Según su contrato: facturación electrónica, consulta de identidad oficial u otras conexiones. Se activan cuando las necesite.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0332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8404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Documentación clínica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5166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Notas y registros pensados para el trabajo diario de la clínica, con sello de tiempo y autoría.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Cómo lo usa su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Simple de adoptar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Desde el navegador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5166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Entra con su usuario desde la computadora de la clínica. No depende de un programa distinto por área.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También como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20"/>
            <a:ext cx="5166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Puede instalarse en el dispositivo para una experiencia más ágil (misma herramienta).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0332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Dispositivos de confianza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5166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Las estaciones que guardan información clínica se registran: más control y menos sorpresas.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0332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8404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A7A"/>
                </a:solidFill>
                <a:latin typeface="Calibri"/>
              </a:rPr>
              <a:t>Capacitación por 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5166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Recepción, enfermería, médicos, caja y farmacia ven pantallas acordes a su trabajo.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Beneficios que sentirá su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Por qué conviene MediCore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09728" cy="210312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3D"/>
                </a:solidFill>
                <a:latin typeface="Calibri"/>
              </a:rPr>
              <a:t>Menos fricción en urgencias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3"/>
                </a:solidFill>
                <a:latin typeface="Calibri"/>
              </a:rPr>
              <a:t>Atiende primero; completa papeles después.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109728" cy="210312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3D"/>
                </a:solidFill>
                <a:latin typeface="Calibri"/>
              </a:rPr>
              <a:t>Un solo lugar para todo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3"/>
                </a:solidFill>
                <a:latin typeface="Calibri"/>
              </a:rPr>
              <a:t>Menos sistemas, menos capturas repetidas.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417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417320"/>
            <a:ext cx="109728" cy="210312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828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3D"/>
                </a:solidFill>
                <a:latin typeface="Calibri"/>
              </a:rPr>
              <a:t>Continuidad ante cortes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3"/>
                </a:solidFill>
                <a:latin typeface="Calibri"/>
              </a:rPr>
              <a:t>La estación sigue trabajando y luego se sincroniza.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4904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749040"/>
            <a:ext cx="109728" cy="210312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3D"/>
                </a:solidFill>
                <a:latin typeface="Calibri"/>
              </a:rPr>
              <a:t>Visión de dirección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3"/>
                </a:solidFill>
                <a:latin typeface="Calibri"/>
              </a:rPr>
              <a:t>Indicadores sin meterse al expediente.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4904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749040"/>
            <a:ext cx="109728" cy="210312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3D"/>
                </a:solidFill>
                <a:latin typeface="Calibri"/>
              </a:rPr>
              <a:t>Su imagen, su 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3"/>
                </a:solidFill>
                <a:latin typeface="Calibri"/>
              </a:rPr>
              <a:t>Marca propia y varias sucursales.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74904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3749040"/>
            <a:ext cx="109728" cy="210312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3D"/>
                </a:solidFill>
                <a:latin typeface="Calibri"/>
              </a:rPr>
              <a:t>Listo para reportar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3"/>
                </a:solidFill>
                <a:latin typeface="Calibri"/>
              </a:rPr>
              <a:t>Capacidad de reportes de salud desde el producto.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Modalidades de 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Elija cómo quiere trabajar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703320" cy="4663440"/>
          </a:xfrm>
          <a:prstGeom prst="roundRect">
            <a:avLst>
              <a:gd name="adj" fmla="val 5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3703320" cy="64008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En la nube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Nosotros (o su proveedor) hospedan el sistema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Usted se conecta por Internet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Ideal para empezar rápido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Varias sucursales en un mismo entorno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703320" cy="4663440"/>
          </a:xfrm>
          <a:prstGeom prst="roundRect">
            <a:avLst>
              <a:gd name="adj" fmla="val 5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703320" cy="64008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361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En su servidor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El sistema corre en infraestructura suya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Varios equipos en su red local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Menos dependencia del Internet externo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Misma experiencia de usuario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371600"/>
            <a:ext cx="3703320" cy="4663440"/>
          </a:xfrm>
          <a:prstGeom prst="roundRect">
            <a:avLst>
              <a:gd name="adj" fmla="val 5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371600"/>
            <a:ext cx="3703320" cy="64008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361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Según su madurez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Demo con datos de ejemplo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Puesta en marcha con acompañamiento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Activación de facturación u otras conexiones cuando las necesite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Evolución a hospital: proyecto aparte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Para armar una propuesta a su medida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D4D8"/>
                </a:solidFill>
                <a:latin typeface="Calibri"/>
              </a:rPr>
              <a:t>Preguntas que nos ayudan a cotizar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0">
                <a:solidFill>
                  <a:srgbClr val="1A2A32"/>
                </a:solidFill>
                <a:latin typeface="Calibri"/>
              </a:rPr>
              <a:t>1.  ¿Cuántas sucursales y cuántos usuarios por rol?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A2A32"/>
                </a:solidFill>
                <a:latin typeface="Calibri"/>
              </a:rPr>
              <a:t>2.  ¿Operan urgencias las 24 horas o en horarios definidos?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A2A32"/>
                </a:solidFill>
                <a:latin typeface="Calibri"/>
              </a:rPr>
              <a:t>3.  ¿Necesitan facturación electrónica desde el día uno?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A2A32"/>
                </a:solidFill>
                <a:latin typeface="Calibri"/>
              </a:rPr>
              <a:t>4.  ¿Prefieren nube o servidor en sus instalaciones?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A2A32"/>
                </a:solidFill>
                <a:latin typeface="Calibri"/>
              </a:rPr>
              <a:t>5.  ¿Tienen farmacia propia e inventario?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A2A32"/>
                </a:solidFill>
                <a:latin typeface="Calibri"/>
              </a:rPr>
              <a:t>6.  ¿Qué sistemas usan hoy (si aplica) y qué duele más?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MediCore  ·  Confidencial — uso comercial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3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Siguiente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E4E6"/>
                </a:solidFill>
                <a:latin typeface="Calibri"/>
              </a:rPr>
              <a:t>1.  Recorrido guiado del sistema (demo)
2.  Entrevista de operación de su clínica
3.  Propuesta de alcance, tiempos y modalidad
4.  Plan de arranque por etapas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MediCore  ·  Atención que no se detiene
¿Conversamos sobre su clínica?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