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onsolas"/>
              </a:rPr>
              <a:t>MediCore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8D8D8"/>
                </a:solidFill>
                <a:latin typeface="Calibri"/>
              </a:rPr>
              <a:t>Propuesta de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8D0"/>
                </a:solidFill>
                <a:latin typeface="Calibri"/>
              </a:rPr>
              <a:t>Core central + SPA/PWA · Offline por cola de dispositivo
Sin Edge · Outbox · Multi-tenant SP · DGIS/SINBA fijo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Audiencia: arquitectos de software / tech leads
Fuente de verdad: docs/analisis/12-propuesta-final.md  ·  docs/analisis/03-arquitectura-propuesta.md
Estado: 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Qué se decide y qué se descarta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Premisa clínica → arquitectura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105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Topología vigente (sin Edge)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105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Stack, capas y bounded contexts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35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6499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Asimetría escritura / lectura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92608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035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6499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Offline, caché y dispositivos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92608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035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36499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Outbox, integraciones y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056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91947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Multi-tenant, SPs, seguridad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48056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91947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Hospedaje, on-prem y ADRs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48056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91947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Contrato de no-promesas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Premisa que define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No parte de un requisito técnico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1828800"/>
          </a:xfrm>
          <a:prstGeom prst="roundRect">
            <a:avLst/>
          </a:prstGeom>
          <a:solidFill>
            <a:srgbClr val="E6F4F4"/>
          </a:solidFill>
          <a:ln>
            <a:solidFill>
              <a:srgbClr val="0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3D"/>
                </a:solidFill>
                <a:latin typeface="Calibri"/>
              </a:rPr>
              <a:t>“Un paciente en urgencias vive… el modo offline existe para que no haya
un ‘¿está caído el sistema?’ con alguien en fila. Incluso si no sabemos su nombre.”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37560"/>
            <a:ext cx="3657600" cy="26060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47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Criterio 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76472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Ante conflicto atención vs. administrativo → gana la atención. Reconciliación después, con rastro auditable.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337560"/>
            <a:ext cx="3657600" cy="26060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447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Límite innegociable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776472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No se relaja integridad clínica: append-only, occurred_at / recorded_at, autoría verificable.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337560"/>
            <a:ext cx="3657600" cy="26060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447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Consecuencia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76472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La resiliencia vive en el dispositivo (cola durable), no en un servidor Edge en la clínica.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Topología vigente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ADR-001 reformulado · Core central + SPA/PWA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926080" cy="2011680"/>
          </a:xfrm>
          <a:prstGeom prst="roundRect">
            <a:avLst>
              <a:gd name="adj" fmla="val 8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SPA / PWA (mismo artefacto)
IndexedDB: cola + caché
SignalR cuando hay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73"/>
                </a:solidFill>
                <a:latin typeface="Calibri"/>
              </a:rPr>
              <a:t>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657600" cy="2560320"/>
          </a:xfrm>
          <a:prstGeom prst="roundRect">
            <a:avLst>
              <a:gd name="adj" fmla="val 8000"/>
            </a:avLst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Core API (.NET)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3474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Monolito modular
Clean Architecture
JWT + TenantId
ApiResponse&lt;T&gt;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73"/>
                </a:solidFill>
                <a:latin typeface="Calibri"/>
              </a:rPr>
              <a:t>SPs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3200400" cy="2011680"/>
          </a:xfrm>
          <a:prstGeom prst="roundRect">
            <a:avLst>
              <a:gd name="adj" fmla="val 8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55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574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1 BD multi-tenant
Persistencia solo SPs
sp_{Entity}_{Action}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206240"/>
            <a:ext cx="3657600" cy="173736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315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Worker (outbox)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61772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DGIS/SINBA (siempre)
CFDI / FHIR / RENAPO (flags)
No tumba la consulta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Prohibido en MVP
• Edge por sucursal
• Sync expediente Edge↔Core
• Broker (Kafka/Rabbit)
• Microservicios / BD-por-tenant / 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Qué se descartó (y por qué importa)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Docs 05–07 pueden tener texto histórico; prevalece doc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Edge por clínica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Réplica + sync bidireccional del expediente. Conflicto con doc 2 (una BD central) y complejidad de conflicto clínico.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7E0A"/>
                </a:solidFill>
                <a:latin typeface="Calibri"/>
              </a:rPr>
              <a:t>App BI separada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Sustituida por módulo features/bi en la app principal (solo agregados, lazy, auditoría).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DGIS como feature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9651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Capacidad fija del producto (ADR-023). Sin red → outbox; el módulo no se apaga.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3D"/>
                </a:solidFill>
                <a:latin typeface="Calibri"/>
              </a:rPr>
              <a:t>Operación idéntica offline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No se promete. Continuidad por estación + degradación declarada de coordinación compartida.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Stack y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Alineado a Clean Architecture del doc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Controllers, auth, middleware, SignalR hubs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8988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19072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Casos de uso, políticas, bounded contexts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801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8988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DataAccess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19072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Solo invocación de SPs; sin SQL ad-hoc de negocio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1188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216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Models / Common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2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DTOs, ApiResponse, cross-cutting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1188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216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50792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Proceso separado: drenado de outbox externo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61188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216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50792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React 19 + TS + Vite + Tailwind · 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Asimetría escritura / lectura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Núcleo del diseño · ADR-014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4937760"/>
          </a:xfrm>
          <a:prstGeom prst="roundRect">
            <a:avLst/>
          </a:prstGeom>
          <a:solidFill>
            <a:srgbClr val="F7FAFB"/>
          </a:solidFill>
          <a:ln>
            <a:solidFill>
              <a:srgbClr val="0D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7A"/>
                </a:solidFill>
                <a:latin typeface="Calibri"/>
              </a:rPr>
              <a:t>ESCRIBIR — siempre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IdempotencyKey al capturar (no al enviar)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Persistir primero en cola IndexedDB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UI confirma contra local — nunca contra la red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Drenador en background → API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Reintentos con backoff; falla permanente no bloquea cola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Prohibido: if (online) remote else local por módulo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577840" cy="4937760"/>
          </a:xfrm>
          <a:prstGeom prst="roundRect">
            <a:avLst/>
          </a:prstGeom>
          <a:solidFill>
            <a:srgbClr val="F7FAFB"/>
          </a:solidFill>
          <a:ln>
            <a:solidFill>
              <a:srgbClr val="0B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3D"/>
                </a:solidFill>
                <a:latin typeface="Calibri"/>
              </a:rPr>
              <a:t>LEER — servidor con enlace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Online: servidor = verdad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Offline: última foto + antigüedad visible (SC-09)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Live (SignalR): cola urgencias / sala / turnos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Caché mínima; no padrón ni HC completa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2A32"/>
                </a:solidFill>
                <a:latin typeface="Calibri"/>
              </a:rPr>
              <a:t>•  Logout: purga lecturas; NO borra cola de salida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Cuatro niveles de caché + dispositivos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ADR-017: solo equipos registrados cachean clínico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914400" cy="77724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25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A32"/>
                </a:solidFill>
                <a:latin typeface="Calibri"/>
              </a:rPr>
              <a:t>Shell / catálogos / config / marca / permisos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3"/>
                </a:solidFill>
                <a:latin typeface="Calibri"/>
              </a:rPr>
              <a:t>Completo, siempre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914400" cy="77724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A32"/>
                </a:solidFill>
                <a:latin typeface="Calibri"/>
              </a:rPr>
              <a:t>Conjunto clínico de seguridad (día, cola, recientes)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06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3"/>
                </a:solidFill>
                <a:latin typeface="Calibri"/>
              </a:rPr>
              <a:t>Mínimo + caducidad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914400" cy="777240"/>
          </a:xfrm>
          <a:prstGeom prst="roundRect">
            <a:avLst/>
          </a:prstGeom>
          <a:solidFill>
            <a:srgbClr val="B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558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A32"/>
                </a:solidFill>
                <a:latin typeface="Calibri"/>
              </a:rPr>
              <a:t>Estado compartido (sala, existencias, turnos)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66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3"/>
                </a:solidFill>
                <a:latin typeface="Calibri"/>
              </a:rPr>
              <a:t>Última foto — nunca verdad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914400" cy="777240"/>
          </a:xfrm>
          <a:prstGeom prst="roundRect">
            <a:avLst/>
          </a:prstGeom>
          <a:solidFill>
            <a:srgbClr val="5A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1596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06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A32"/>
                </a:solidFill>
                <a:latin typeface="Calibri"/>
              </a:rPr>
              <a:t>Resto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262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3"/>
                </a:solidFill>
                <a:latin typeface="Calibri"/>
              </a:rPr>
              <a:t>Por demanda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234440"/>
            <a:ext cx="3108960" cy="4709160"/>
          </a:xfrm>
          <a:prstGeom prst="round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Dispositivos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1168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0E4"/>
                </a:solidFill>
                <a:latin typeface="Calibri"/>
              </a:rPr>
              <a:t>Registrados por admin:
cola + caché clínica.
Navegador no registrado:
solo online.
Logout:
purga lecturas;
conserva outbox local.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Dominios de falla (contrato)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Qué cubre el diseño y qué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F1  Internet caído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Cola local + caché + antigüedad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441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F2  API/BD caída o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6733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Igual F1; deploy escalonado solo en dedicado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441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F3  Estación / navegador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733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IndexedDB durable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3441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F4  Corte eléctrico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67335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Papel + captura diferida (occurred≠recorded)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0332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130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F5  Pérdida 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Backups/DR proveedor — no hay Edge que absorba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70332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8130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F6  Corrupción lógica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14223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Append-only + PITR + cadena integridad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70332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38130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F7  Compromiso / ransomware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142232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MFA, segmentación, backups inmutables, 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Offline por dominio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Matriz vigente (doc 03 §4)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3"/>
                </a:solidFill>
                <a:latin typeface="Calibri"/>
              </a:rPr>
              <a:t>Dominio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3"/>
                </a:solidFill>
                <a:latin typeface="Calibri"/>
              </a:rPr>
              <a:t>Sin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3"/>
                </a:solidFill>
                <a:latin typeface="Calibri"/>
              </a:rPr>
              <a:t>Notas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11338560" cy="457200"/>
          </a:xfrm>
          <a:prstGeom prst="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Triage / 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Sí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819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Append-only; no bloquear crítico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11338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Nota clínica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Sí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848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Firma local + sello sync; inmutable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14600"/>
            <a:ext cx="11338560" cy="457200"/>
          </a:xfrm>
          <a:prstGeom prst="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Urgencias / no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587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Sí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877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Identidad progresiva (doc 08)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017520"/>
            <a:ext cx="11338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090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Receta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090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Condicionado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906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Catálogo + alergias en caché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520440"/>
            <a:ext cx="11338560" cy="457200"/>
          </a:xfrm>
          <a:prstGeom prst="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593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Agenda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593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Lectura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5935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Sin árbitro local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23360"/>
            <a:ext cx="11338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Farmacia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Sí*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0965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Existencia negativa; *estupefacientes pendiente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526280"/>
            <a:ext cx="11338560" cy="457200"/>
          </a:xfrm>
          <a:prstGeom prst="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599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Caja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599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Sí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599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Recibo provisional; CFDI diferido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029200"/>
            <a:ext cx="11338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DGIS/SINBA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102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Genera+outbox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1023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Módulo nunca off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532120"/>
            <a:ext cx="11338560" cy="457200"/>
          </a:xfrm>
          <a:prstGeom prst="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05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2"/>
                </a:solidFill>
                <a:latin typeface="Calibri"/>
              </a:rPr>
              <a:t>CFDI/FHIR/RENAPO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5605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7A7A"/>
                </a:solidFill>
                <a:latin typeface="Calibri"/>
              </a:rPr>
              <a:t>Flags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6052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3"/>
                </a:solidFill>
                <a:latin typeface="Calibri"/>
              </a:rPr>
              <a:t>Sin red o flag off → no bloquean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EDA acotada + Outbox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ADR-018 · Simetría cliente↔Core↔exterior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200400" cy="2194560"/>
          </a:xfrm>
          <a:prstGeom prst="roundRect">
            <a:avLst>
              <a:gd name="adj" fmla="val 8000"/>
            </a:avLst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Cola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IndexedDB → API
IdempotencyKey
Reintentos / rechazo diferido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A6B73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Core + Outbox 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Misma TX que el SP
Hechos append-only
Sin broker en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A6B73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828800"/>
            <a:ext cx="3200400" cy="219456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938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Mundo exterior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402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8EEEE"/>
                </a:solidFill>
                <a:latin typeface="Calibri"/>
              </a:rPr>
              <a:t>DGIS/SINBA
CFDI · FHIR · RENAPO
Notificaciones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Contrato: fallar una capacidad externa no tumba la consulta.
Sí: eventos de dominio + empuje al cliente · No: CQRS completo, consistencia eventual en lecturas clínicas, microservicios.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Integraciones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Fijo vs feature flags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48920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DGIS / SINBA — fijo (ADR-023)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• Siempre en el producto (todo tenant / instalación)
• Con red: genera + envía vía outbox
• Sin red: genera + queda en outbox
• Demo: misma tubería, destino no productivo
• On-prem: módulo presente; cliente provee Internet para envío
• No existe SKU “sin DGIS”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577840" cy="48920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441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7E0A"/>
                </a:solidFill>
                <a:latin typeface="Calibri"/>
              </a:rPr>
              <a:t>Feature flags (solo estas)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73352"/>
            <a:ext cx="5303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• CFDI — facturación electrónica
• FHIR — interoperabilidad voluntaria (≠ NOM-024)
• RENAPO — consulta de identidad
Sin Internet o flag off: no bloquean atención.
Conformidad NOM-024 = GIIS/DGIS, no FHIR.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Multi-tenant, persistencia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API = fuente de verdad de autorización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TenantId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En claims JWT y en todo SP de negocio. Sin BD-por-tenant.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9844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SPs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2763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Única vía de persistencia de negocio: sp_{Entity}_{Action}.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9844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2763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Refresh httpOnly (ADR-006 aprobado). MFA/dispositivos según fase.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036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9008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Identidad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Progresiva: sujeto ≠ episodio (ADR-016). CURP opcional.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88036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99008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Bloqueo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1927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Nada bloquea ingreso a urgencias (ADR-015).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88036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99008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31927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Debe poder decir “no sé” (doc 09: 87 hallazgos).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57200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817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PDF clínico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Generado en servidor (ADR-009); no html2canvas como evidencia.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57200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6817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Firma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01091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Local + sello al sync (ADR-020); dictamen legal pendiente.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57200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6817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Rechazo diferido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10912"/>
            <a:ext cx="34747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2"/>
                </a:solidFill>
                <a:latin typeface="Calibri"/>
              </a:rPr>
              <a:t>Bandeja por severidad; nunca borrar; corrección por addendum.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BI / dirección (ADR-013)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Módulo en la app principal — no app aparte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Ubicación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features/bi dentro del frontend clínico; lazy load para no pesar urgencias.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Permisos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Solo lectura; perfiles de dirección; API GET de agregados.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Anti-reID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9651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Solo agregados; supresión de celdas pequeñas; sin abrir expediente desde KPI.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577840" cy="219456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7A"/>
                </a:solidFill>
                <a:latin typeface="Calibri"/>
              </a:rPr>
              <a:t>Offline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Sin cola/caché clínica del tablero. Auditoría de todo acceso.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Hospedaje y on-prem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ADR-021 / ADR-022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749039" cy="475488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749039" cy="640080"/>
          </a:xfrm>
          <a:prstGeom prst="rect">
            <a:avLst/>
          </a:prstGeom>
          <a:solidFill>
            <a:srgbClr val="B47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Shared (demo/ventas)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Datos sintéticos únicamente
Banner demo
Flags CFDI/FHIR/RENAPO off
DGIS → destino no productivo
Sin deploy escalonado fiable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749039" cy="475488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749039" cy="64008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Dedicado (producción)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Obligatorio antes del 1er paciente real
Worker durable
PITR / DR
Deploy escalonado de API
Residencia según contrato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749039" cy="475488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749039" cy="64008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On-prem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945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2"/>
                </a:solidFill>
                <a:latin typeface="Calibri"/>
              </a:rPr>
              <a:t>Mismo artefacto (API+Worker+SQL)
N estaciones en LAN
Sin sync expediente a cloud
Multi-sede: N installs o agregados
Portabilidad desde Fase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ADRs vigentes (resumen)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Estado 2026-08-23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ADR-001 Core+PWA sin 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ADR-003 SPA=PWA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18872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ADR-005 ULID en borde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1168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ADR-006 Refresh httpOnly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ADR-007 Continuidad en dispositivo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01168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ADR-009 PDF en servidor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3464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99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ADR-012 API idéntica cloud/on-prem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83464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999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ADR-013 BI en app principal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283464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999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ADR-014 Escritura siempre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5760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22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ADR-015 Nada bloquea ingreso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822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ADR-016 Identidad progresiva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65760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22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ADR-017 Registro dispositivos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48056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451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ADR-018 Outbox + EDA acotada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48056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6451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ADR-019 Cobro/farmacia offline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448056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6451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ADR-020 Firma local + sello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30352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68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ADR-021 Portabilidad on-prem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530352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5468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ADR-022 Demo vs producción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5303520"/>
            <a:ext cx="3749039" cy="685800"/>
          </a:xfrm>
          <a:prstGeom prst="roundRect">
            <a:avLst/>
          </a:prstGeom>
          <a:solidFill>
            <a:srgbClr val="F7FAFB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468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ADR-023 DGIS/SINBA fijo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5C26"/>
                </a:solidFill>
                <a:latin typeface="Calibri"/>
              </a:rPr>
              <a:t>Obsoletos: ADR-010 Edge Express · ADR-011 modalidad Edge por sucursal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Contrato de no-promesas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Para evitar deuda de expectativas en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Multiusuario offline equivalente a servidor LAN en clínica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24/7 sin degradación si cae la BD central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Certificación NOM-024 automática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CFDI/FHIR/RENAPO sin Internet o con flag off (DGIS: solo se difiere el envío)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Estupefacientes / psicotrópicos (impedir hasta norma + decisión)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Demo creíble sin backend real (sin mocks que tapen integración)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Sync vivo de expediente on-prem ↔ cloud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A32"/>
                </a:solidFill>
                <a:latin typeface="Calibri"/>
              </a:rPr>
              <a:t>•  Redis / broker / microservicios en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Estructura objetivo y fases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Implementación no arranca sin autorización Fase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303520" cy="4846320"/>
          </a:xfrm>
          <a:prstGeom prst="round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E4E8"/>
                </a:solidFill>
                <a:latin typeface="Consolas"/>
              </a:rPr>
              <a:t>MedicalCore/
  backend/   Api, Worker, Business,
             DataAccess, Models, Common,
             database/
  frontend/  PWA + features/bi
  e2e/       Playwright vs stack real
  tools/     seed-demo, diagnose
  docs/      análisis + prototipo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640080" cy="50292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3075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Fundación real + cola + tenant + vertical E2E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892808"/>
            <a:ext cx="640080" cy="50292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842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Demo ventas: stack real + seed sintético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551176"/>
            <a:ext cx="640080" cy="50292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6243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4261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Núcleo clínico +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209544"/>
            <a:ext cx="640080" cy="50292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2826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009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Caja / CFDI / farmacia / estudios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867912"/>
            <a:ext cx="640080" cy="50292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94106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593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Privacidad + módulo BI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526279"/>
            <a:ext cx="640080" cy="502920"/>
          </a:xfrm>
          <a:prstGeom prst="round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59943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6177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DGIS productivo + FHIR opcional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184648"/>
            <a:ext cx="640080" cy="50292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5257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2760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2"/>
                </a:solidFill>
                <a:latin typeface="Calibri"/>
              </a:rPr>
              <a:t>Hospital / instalador on-prem producto → aparte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para revisión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D4D8"/>
                </a:solidFill>
                <a:latin typeface="Calibri"/>
              </a:rPr>
              <a:t>Preguntas que un arquitecto debe poder responder “sí”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¿Escritura siempre pasa por cola local + idempotencia?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¿Lectura online viene del servidor (no de caché como verdad)?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¿Ningún módulo reintroduce Edge o sync de expediente?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¿Todo SP de negocio recibe TenantId?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¿DGIS/SINBA existe aunque no haya red (outbox)?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¿CFDI/FHIR/RENAPO están detrás de flag y no bloquean atención?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¿BI es módulo de agregados sin PHI de paciente?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¿On-prem = mismo artefacto, sin consolidar expediente al centro?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¿Ambiente shared = solo sintético; dedicado antes de PHI?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2A32"/>
                </a:solidFill>
                <a:latin typeface="Calibri"/>
              </a:rPr>
              <a:t>•  ¿Estupefacientes impedidos hasta decisión explícita?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3"/>
                </a:solidFill>
                <a:latin typeface="Calibri"/>
              </a:rPr>
              <a:t>MediCore · Arquitectura técnica · docs/analisis/12 + 03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3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Resumen en una 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E4E6"/>
                </a:solidFill>
                <a:latin typeface="Calibri"/>
              </a:rPr>
              <a:t>Un Core multi-tenant con SPs; un cliente SPA/PWA con cola durable;
outbox hacia el exterior; continuidad por dispositivo;
sin Edge y con degradación explícita.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Referencias: 12-propuesta-final.md · 03-arquitectura-propuesta.md · AGENTS.md
Próximo artefacto de ingeniería: ADRs formales + diagramas C4 al arrancar Fase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